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4" r:id="rId1"/>
  </p:sldMasterIdLst>
  <p:sldIdLst>
    <p:sldId id="256" r:id="rId2"/>
    <p:sldId id="263" r:id="rId3"/>
    <p:sldId id="257" r:id="rId4"/>
    <p:sldId id="258" r:id="rId5"/>
    <p:sldId id="266" r:id="rId6"/>
    <p:sldId id="268" r:id="rId7"/>
    <p:sldId id="270" r:id="rId8"/>
    <p:sldId id="271" r:id="rId9"/>
    <p:sldId id="269" r:id="rId10"/>
    <p:sldId id="265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rgbClr val="3030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6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3BAFBFA7-D99C-48B3-949C-321455B324FB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vert="horz" lIns="45720" tIns="45720" rIns="45720" bIns="45720" rtlCol="0" anchor="ctr">
            <a:normAutofit/>
          </a:bodyPr>
          <a:lstStyle>
            <a:lvl1pPr>
              <a:defRPr lang="en-US"/>
            </a:lvl1pPr>
          </a:lstStyle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3030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355064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6631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rgbClr val="3030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3030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510734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8174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7879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1">
                    <a:lumMod val="6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26480" y="1717879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lang="en-US" sz="2000" b="0" kern="1200" spc="10" baseline="0" dirty="0">
                <a:solidFill>
                  <a:schemeClr val="tx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0109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96995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3359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7234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3914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08203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AFBFA7-D99C-48B3-949C-321455B324FB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3640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rgbClr val="3030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3BAFBFA7-D99C-48B3-949C-321455B324FB}" type="datetimeFigureOut">
              <a:rPr lang="en-IN" smtClean="0"/>
              <a:t>04-12-2025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rgbClr val="969696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rgbClr val="777777"/>
                </a:solidFill>
              </a:defRPr>
            </a:lvl1pPr>
          </a:lstStyle>
          <a:p>
            <a:fld id="{BEDDDFB6-EDB5-402D-8012-908B98D768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144030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  <p:sldLayoutId id="2147483784" r:id="rId10"/>
    <p:sldLayoutId id="214748378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85546" y="183454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Infosys Springboard</a:t>
            </a:r>
            <a:r>
              <a:rPr lang="en-IN" dirty="0"/>
              <a:t/>
            </a:r>
            <a:br>
              <a:rPr lang="en-IN" dirty="0"/>
            </a:br>
            <a:r>
              <a:rPr lang="en-US" dirty="0"/>
              <a:t>Virtual Internship 6.0</a:t>
            </a:r>
            <a:r>
              <a:rPr lang="en-IN" dirty="0"/>
              <a:t/>
            </a:r>
            <a:br>
              <a:rPr lang="en-IN" dirty="0"/>
            </a:br>
            <a:r>
              <a:rPr lang="en-IN" dirty="0" smtClean="0"/>
              <a:t>Milestone - 2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85545" y="4305422"/>
            <a:ext cx="5360377" cy="1655762"/>
          </a:xfrm>
        </p:spPr>
        <p:txBody>
          <a:bodyPr>
            <a:normAutofit/>
          </a:bodyPr>
          <a:lstStyle/>
          <a:p>
            <a:r>
              <a:rPr lang="en-US" dirty="0" smtClean="0"/>
              <a:t> - By Jampana Rahul Varma</a:t>
            </a:r>
          </a:p>
          <a:p>
            <a:endParaRPr lang="en-US" dirty="0"/>
          </a:p>
          <a:p>
            <a:r>
              <a:rPr lang="en-US" dirty="0" smtClean="0"/>
              <a:t>Instructor – Shakti </a:t>
            </a:r>
            <a:r>
              <a:rPr lang="en-US" dirty="0" err="1" smtClean="0"/>
              <a:t>gopalakrishnan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36967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09954" y="1169377"/>
            <a:ext cx="11210192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chemeClr val="bg2">
                    <a:lumMod val="75000"/>
                  </a:schemeClr>
                </a:solidFill>
              </a:rPr>
              <a:t>Problem </a:t>
            </a:r>
            <a:r>
              <a:rPr lang="en-US" sz="5400" dirty="0" smtClean="0">
                <a:solidFill>
                  <a:schemeClr val="bg2">
                    <a:lumMod val="75000"/>
                  </a:schemeClr>
                </a:solidFill>
              </a:rPr>
              <a:t>Statement</a:t>
            </a:r>
          </a:p>
          <a:p>
            <a:pPr algn="ctr"/>
            <a:endParaRPr lang="en-US" sz="5400" dirty="0" smtClean="0">
              <a:solidFill>
                <a:schemeClr val="bg2">
                  <a:lumMod val="75000"/>
                </a:schemeClr>
              </a:solidFill>
            </a:endParaRPr>
          </a:p>
          <a:p>
            <a:pPr algn="ctr"/>
            <a:endParaRPr lang="en-US" sz="3600" dirty="0">
              <a:solidFill>
                <a:schemeClr val="bg2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Air pollution in major cities like Delhi is rising</a:t>
            </a:r>
            <a:r>
              <a:rPr lang="en-US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People lack awareness of future air quality risks.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Existing </a:t>
            </a:r>
            <a:r>
              <a:rPr lang="en-US" dirty="0"/>
              <a:t>apps show only current AQI, NOT future predictions.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No </a:t>
            </a:r>
            <a:r>
              <a:rPr lang="en-US" dirty="0"/>
              <a:t>unified dashboard combining current pollutants, trends, prediction &amp; analytics</a:t>
            </a:r>
            <a:r>
              <a:rPr lang="en-US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7150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428393" y="536330"/>
            <a:ext cx="33264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dirty="0">
                <a:solidFill>
                  <a:schemeClr val="bg2">
                    <a:lumMod val="75000"/>
                  </a:schemeClr>
                </a:solidFill>
              </a:rPr>
              <a:t>AirAware</a:t>
            </a:r>
            <a:endParaRPr lang="en-IN" sz="54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33046" y="1828801"/>
            <a:ext cx="957482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AirAware is an intelligent air quality monitoring dashboard that analyzes historical pollution levels and predicts future Air Quality Index (AQI) trends for </a:t>
            </a:r>
            <a:r>
              <a:rPr lang="en-US" dirty="0" smtClean="0"/>
              <a:t>Delhi.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The </a:t>
            </a:r>
            <a:r>
              <a:rPr lang="en-US" dirty="0"/>
              <a:t>system uses PM2.5-based AQI calculations and a lightweight trend-extrapolation algorithm to estimate AQI for the next 1 and 5 </a:t>
            </a:r>
            <a:r>
              <a:rPr lang="en-US" dirty="0" smtClean="0"/>
              <a:t>years.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It </a:t>
            </a:r>
            <a:r>
              <a:rPr lang="en-US" dirty="0"/>
              <a:t>provides real-time simulated pollutant values (PM2.5, CO₂, NO₂), visual trend charts, a prediction bar graph, and a color-coded accuracy </a:t>
            </a:r>
            <a:r>
              <a:rPr lang="en-US" dirty="0" err="1" smtClean="0"/>
              <a:t>heatmap</a:t>
            </a:r>
            <a:r>
              <a:rPr lang="en-US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The </a:t>
            </a:r>
            <a:r>
              <a:rPr lang="en-US" dirty="0"/>
              <a:t>interface is built entirely with HTML, CSS, and JavaScript, featuring a modern gradient UI and optional dark-mode </a:t>
            </a:r>
            <a:r>
              <a:rPr lang="en-US" dirty="0" smtClean="0"/>
              <a:t>toggle.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AirAware </a:t>
            </a:r>
            <a:r>
              <a:rPr lang="en-US" dirty="0"/>
              <a:t>demonstrates how data analytics and predictive modeling can help communities understand pollution patterns and prepare for air-quality challenges.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507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798" y="1169377"/>
            <a:ext cx="11403623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000" dirty="0" smtClean="0">
                <a:solidFill>
                  <a:schemeClr val="bg2">
                    <a:lumMod val="75000"/>
                  </a:schemeClr>
                </a:solidFill>
              </a:rPr>
              <a:t>Technologies Used:</a:t>
            </a:r>
            <a:endParaRPr lang="en-IN" dirty="0"/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 smtClean="0"/>
              <a:t>HTML5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 smtClean="0"/>
              <a:t>CSS3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 smtClean="0"/>
              <a:t>JavaScript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Python</a:t>
            </a:r>
            <a:endParaRPr lang="en-IN" dirty="0" smtClean="0"/>
          </a:p>
          <a:p>
            <a:endParaRPr lang="en-US" dirty="0"/>
          </a:p>
          <a:p>
            <a:r>
              <a:rPr lang="en-IN" sz="4000" dirty="0" smtClean="0">
                <a:solidFill>
                  <a:schemeClr val="bg2">
                    <a:lumMod val="75000"/>
                  </a:schemeClr>
                </a:solidFill>
              </a:rPr>
              <a:t>Libraries:</a:t>
            </a:r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Bootstrap </a:t>
            </a:r>
            <a:r>
              <a:rPr lang="en-IN" dirty="0" smtClean="0"/>
              <a:t>5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 smtClean="0"/>
              <a:t>Chart.js v4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Scikit</a:t>
            </a:r>
            <a:r>
              <a:rPr lang="en-US" dirty="0" smtClean="0"/>
              <a:t>-learn</a:t>
            </a:r>
            <a:endParaRPr lang="en-IN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Tensorflow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85620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3577" y="1477108"/>
            <a:ext cx="1079695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HTML: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Defines the structure and layout of the AirAware dashboard, including cards, sections, charts, and the </a:t>
            </a:r>
            <a:r>
              <a:rPr lang="en-US" dirty="0" err="1"/>
              <a:t>navbar</a:t>
            </a:r>
            <a:r>
              <a:rPr lang="en-US" dirty="0" smtClean="0"/>
              <a:t>.</a:t>
            </a:r>
          </a:p>
          <a:p>
            <a:endParaRPr lang="en-US" dirty="0"/>
          </a:p>
          <a:p>
            <a:r>
              <a:rPr lang="en-US" b="1" dirty="0" smtClean="0"/>
              <a:t>CSS: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Styles the UI with gradients, dark mode, spacing, </a:t>
            </a:r>
            <a:r>
              <a:rPr lang="en-US" dirty="0" err="1"/>
              <a:t>heatmap</a:t>
            </a:r>
            <a:r>
              <a:rPr lang="en-US" dirty="0"/>
              <a:t> colors, and visual enhancements for a clean modern interface</a:t>
            </a:r>
            <a:r>
              <a:rPr lang="en-US" dirty="0" smtClean="0"/>
              <a:t>.</a:t>
            </a:r>
          </a:p>
          <a:p>
            <a:endParaRPr lang="en-US" dirty="0"/>
          </a:p>
          <a:p>
            <a:r>
              <a:rPr lang="en-US" b="1" dirty="0" smtClean="0"/>
              <a:t>JavaScript: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Handles AQI calculation, prediction logic, dynamic updates, theme toggle, </a:t>
            </a:r>
            <a:r>
              <a:rPr lang="en-US" dirty="0" err="1"/>
              <a:t>heatmap</a:t>
            </a:r>
            <a:r>
              <a:rPr lang="en-US" dirty="0"/>
              <a:t> generation, and interacts with charts</a:t>
            </a:r>
            <a:r>
              <a:rPr lang="en-US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Bootstrap: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Provides a responsive grid system, cards, buttons, and </a:t>
            </a:r>
            <a:r>
              <a:rPr lang="en-US" dirty="0" err="1"/>
              <a:t>navbar</a:t>
            </a:r>
            <a:r>
              <a:rPr lang="en-US" dirty="0"/>
              <a:t> components to quickly build a polished and mobile-friendly layout</a:t>
            </a:r>
            <a:r>
              <a:rPr lang="en-US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5617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6477" y="1450730"/>
            <a:ext cx="945173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Chart.js</a:t>
            </a:r>
            <a:r>
              <a:rPr lang="en-US" b="1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Renders interactive line and bar charts for historical trends and AQI predictions with smooth animations and real-time theme updates.</a:t>
            </a:r>
          </a:p>
          <a:p>
            <a:endParaRPr lang="en-US" dirty="0" smtClean="0"/>
          </a:p>
          <a:p>
            <a:r>
              <a:rPr lang="en-US" b="1" dirty="0" smtClean="0"/>
              <a:t>Python: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Used to train Machine Learning models and Deep Learning models to predict </a:t>
            </a:r>
            <a:r>
              <a:rPr lang="en-US" smtClean="0"/>
              <a:t>air </a:t>
            </a:r>
            <a:r>
              <a:rPr lang="en-US" smtClean="0"/>
              <a:t>quality.</a:t>
            </a: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r>
              <a:rPr lang="en-US" b="1" dirty="0" err="1" smtClean="0"/>
              <a:t>Scikit</a:t>
            </a:r>
            <a:r>
              <a:rPr lang="en-US" b="1" dirty="0" smtClean="0"/>
              <a:t>-learn:</a:t>
            </a:r>
          </a:p>
          <a:p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Used to train machine learning models.</a:t>
            </a:r>
          </a:p>
          <a:p>
            <a:endParaRPr lang="en-US" dirty="0"/>
          </a:p>
          <a:p>
            <a:r>
              <a:rPr lang="en-US" b="1" dirty="0" err="1" smtClean="0"/>
              <a:t>Tensorflow</a:t>
            </a:r>
            <a:r>
              <a:rPr lang="en-US" b="1" dirty="0" smtClean="0"/>
              <a:t>:</a:t>
            </a:r>
          </a:p>
          <a:p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Used to train LSTM model.</a:t>
            </a:r>
          </a:p>
        </p:txBody>
      </p:sp>
    </p:spTree>
    <p:extLst>
      <p:ext uri="{BB962C8B-B14F-4D97-AF65-F5344CB8AC3E}">
        <p14:creationId xmlns:p14="http://schemas.microsoft.com/office/powerpoint/2010/main" val="449156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5260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638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58362" y="1723292"/>
            <a:ext cx="859887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===== MODEL ACCURACIES (R² Score) =====</a:t>
            </a:r>
          </a:p>
          <a:p>
            <a:r>
              <a:rPr lang="en-IN" sz="2400" dirty="0"/>
              <a:t>Linear Regression: 0.1511</a:t>
            </a:r>
          </a:p>
          <a:p>
            <a:r>
              <a:rPr lang="en-IN" sz="2400" dirty="0"/>
              <a:t>Random Forest: 0.9970</a:t>
            </a:r>
          </a:p>
          <a:p>
            <a:r>
              <a:rPr lang="en-IN" sz="2400" dirty="0"/>
              <a:t>Gradient Boosting: 0.9887</a:t>
            </a:r>
          </a:p>
          <a:p>
            <a:r>
              <a:rPr lang="en-IN" sz="2400" dirty="0" err="1"/>
              <a:t>XGBoost</a:t>
            </a:r>
            <a:r>
              <a:rPr lang="en-IN" sz="2400" dirty="0"/>
              <a:t>: 0.9838</a:t>
            </a:r>
          </a:p>
          <a:p>
            <a:endParaRPr lang="en-IN" sz="2400" dirty="0"/>
          </a:p>
          <a:p>
            <a:r>
              <a:rPr lang="en-IN" sz="2400" dirty="0"/>
              <a:t>Best Model: Random Forest with Accuracy (R²): 0.9970</a:t>
            </a:r>
          </a:p>
          <a:p>
            <a:endParaRPr lang="en-IN" sz="2400" dirty="0"/>
          </a:p>
          <a:p>
            <a:r>
              <a:rPr lang="en-IN" sz="2400" dirty="0"/>
              <a:t>Model saved as: </a:t>
            </a:r>
            <a:r>
              <a:rPr lang="en-IN" sz="2400" dirty="0" err="1"/>
              <a:t>best_aqi_model.pkl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3458430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8556" y="1661745"/>
            <a:ext cx="11139854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 smtClean="0">
                <a:solidFill>
                  <a:schemeClr val="bg2">
                    <a:lumMod val="75000"/>
                  </a:schemeClr>
                </a:solidFill>
              </a:rPr>
              <a:t>Objectives for Milestone 3:</a:t>
            </a:r>
            <a:endParaRPr lang="en-IN" dirty="0" smtClean="0">
              <a:solidFill>
                <a:schemeClr val="bg2">
                  <a:lumMod val="75000"/>
                </a:schemeClr>
              </a:solidFill>
            </a:endParaRPr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Implement </a:t>
            </a:r>
            <a:r>
              <a:rPr lang="en-IN" dirty="0" smtClean="0"/>
              <a:t>Backend using Python and connect it to frontend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Improve UI responsiveness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Integrate a </a:t>
            </a:r>
            <a:r>
              <a:rPr lang="en-US" dirty="0" err="1" smtClean="0"/>
              <a:t>chatbot</a:t>
            </a:r>
            <a:r>
              <a:rPr lang="en-US" dirty="0" smtClean="0"/>
              <a:t> in UI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Integrate a weather agent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37692" y="1907931"/>
            <a:ext cx="772843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600" dirty="0" smtClean="0"/>
              <a:t>THANK YOU</a:t>
            </a:r>
            <a:endParaRPr lang="en-IN" sz="9600" dirty="0"/>
          </a:p>
        </p:txBody>
      </p:sp>
    </p:spTree>
    <p:extLst>
      <p:ext uri="{BB962C8B-B14F-4D97-AF65-F5344CB8AC3E}">
        <p14:creationId xmlns:p14="http://schemas.microsoft.com/office/powerpoint/2010/main" val="283371044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View">
  <a:themeElements>
    <a:clrScheme name="View">
      <a:dk1>
        <a:sysClr val="windowText" lastClr="000000"/>
      </a:dk1>
      <a:lt1>
        <a:sysClr val="window" lastClr="FFFFFF"/>
      </a:lt1>
      <a:dk2>
        <a:srgbClr val="564B3C"/>
      </a:dk2>
      <a:lt2>
        <a:srgbClr val="ECEDD1"/>
      </a:lt2>
      <a:accent1>
        <a:srgbClr val="93A299"/>
      </a:accent1>
      <a:accent2>
        <a:srgbClr val="CB4B30"/>
      </a:accent2>
      <a:accent3>
        <a:srgbClr val="B5AE53"/>
      </a:accent3>
      <a:accent4>
        <a:srgbClr val="6F6A7A"/>
      </a:accent4>
      <a:accent5>
        <a:srgbClr val="E8B54D"/>
      </a:accent5>
      <a:accent6>
        <a:srgbClr val="8A7952"/>
      </a:accent6>
      <a:hlink>
        <a:srgbClr val="9F9F0B"/>
      </a:hlink>
      <a:folHlink>
        <a:srgbClr val="B2B2B2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3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3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866257B-E5CE-4C43-9210-F2DE76BE10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71</TotalTime>
  <Words>420</Words>
  <Application>Microsoft Office PowerPoint</Application>
  <PresentationFormat>Widescreen</PresentationFormat>
  <Paragraphs>80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Century Schoolbook</vt:lpstr>
      <vt:lpstr>Wingdings 2</vt:lpstr>
      <vt:lpstr>View</vt:lpstr>
      <vt:lpstr>Infosys Springboard Virtual Internship 6.0 Milestone - 2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Infosys Springboard Virtual Internship 6.0 Milestone - 1</dc:title>
  <dc:creator>admin</dc:creator>
  <cp:lastModifiedBy>admin</cp:lastModifiedBy>
  <cp:revision>12</cp:revision>
  <dcterms:created xsi:type="dcterms:W3CDTF">2025-11-19T13:59:48Z</dcterms:created>
  <dcterms:modified xsi:type="dcterms:W3CDTF">2025-12-04T14:36:50Z</dcterms:modified>
</cp:coreProperties>
</file>